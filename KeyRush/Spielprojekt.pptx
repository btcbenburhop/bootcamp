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330" r:id="rId6"/>
    <p:sldId id="332" r:id="rId7"/>
    <p:sldId id="331" r:id="rId8"/>
    <p:sldId id="333" r:id="rId9"/>
    <p:sldId id="33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C8C"/>
    <a:srgbClr val="C4CE00"/>
    <a:srgbClr val="BFBFBF"/>
    <a:srgbClr val="E6E6E6"/>
    <a:srgbClr val="F5F5F5"/>
    <a:srgbClr val="F0F0F0"/>
    <a:srgbClr val="0F4B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F905177-E2C4-476A-B1BC-62E6A556E12D}" v="1" dt="2026-09-14T08:56:39.048"/>
  </p1510:revLst>
</p1510:revInfo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2C8C85-51F0-491E-9774-3900AFEF0FD7}" styleName="Helle Formatvorlage 2 - Akz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7B57E9-2FF8-44F9-B8E7-A19B272DA3C5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FDB53D-9EBD-4FDA-9599-2D921E64D279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53945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F51537-2DB6-4719-AB52-5792C36000A6}" type="datetimeFigureOut">
              <a:rPr lang="de-DE" smtClean="0"/>
              <a:t>14.09.2026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90B04F-4444-4ED8-A359-35523FED9BE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635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90B04F-4444-4ED8-A359-35523FED9BE2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69730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Bildplatzhalter 4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00000" y="3564000"/>
            <a:ext cx="7740000" cy="1384995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000" y="5004000"/>
            <a:ext cx="7740000" cy="92333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grpSp>
        <p:nvGrpSpPr>
          <p:cNvPr id="18" name="Gruppieren 17"/>
          <p:cNvGrpSpPr>
            <a:grpSpLocks noChangeAspect="1"/>
          </p:cNvGrpSpPr>
          <p:nvPr userDrawn="1"/>
        </p:nvGrpSpPr>
        <p:grpSpPr>
          <a:xfrm>
            <a:off x="900000" y="2628000"/>
            <a:ext cx="1512000" cy="551954"/>
            <a:chOff x="2020888" y="1641475"/>
            <a:chExt cx="5105401" cy="1863725"/>
          </a:xfrm>
          <a:solidFill>
            <a:schemeClr val="bg1"/>
          </a:solidFill>
        </p:grpSpPr>
        <p:sp>
          <p:nvSpPr>
            <p:cNvPr id="19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0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1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22" name="Rechteck 21"/>
          <p:cNvSpPr/>
          <p:nvPr userDrawn="1"/>
        </p:nvSpPr>
        <p:spPr>
          <a:xfrm>
            <a:off x="900000" y="3420000"/>
            <a:ext cx="1512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585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gradFill flip="none" rotWithShape="1">
            <a:gsLst>
              <a:gs pos="0">
                <a:srgbClr val="0F4B8C"/>
              </a:gs>
              <a:gs pos="40000">
                <a:schemeClr val="tx1"/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00" y="7200"/>
            <a:ext cx="6123809" cy="6857143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900000" y="3564000"/>
            <a:ext cx="7740000" cy="1384995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900000" y="5004000"/>
            <a:ext cx="7740000" cy="92333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3000">
                <a:solidFill>
                  <a:schemeClr val="accent3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grpSp>
        <p:nvGrpSpPr>
          <p:cNvPr id="18" name="Gruppieren 17"/>
          <p:cNvGrpSpPr>
            <a:grpSpLocks noChangeAspect="1"/>
          </p:cNvGrpSpPr>
          <p:nvPr userDrawn="1"/>
        </p:nvGrpSpPr>
        <p:grpSpPr>
          <a:xfrm>
            <a:off x="900000" y="2628000"/>
            <a:ext cx="1512000" cy="551954"/>
            <a:chOff x="2020888" y="1641475"/>
            <a:chExt cx="5105401" cy="1863725"/>
          </a:xfrm>
          <a:solidFill>
            <a:schemeClr val="bg1"/>
          </a:solidFill>
        </p:grpSpPr>
        <p:sp>
          <p:nvSpPr>
            <p:cNvPr id="19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0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1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22" name="Rechteck 21"/>
          <p:cNvSpPr/>
          <p:nvPr userDrawn="1"/>
        </p:nvSpPr>
        <p:spPr>
          <a:xfrm>
            <a:off x="900000" y="3420000"/>
            <a:ext cx="1512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9730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/>
          <a:p>
            <a:r>
              <a:rPr lang="de-DE"/>
              <a:t>BTC AG | Master | April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20" name="Gruppieren 19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15" name="Rechteck 14">
            <a:extLst>
              <a:ext uri="{FF2B5EF4-FFF2-40B4-BE49-F238E27FC236}">
                <a16:creationId xmlns:a16="http://schemas.microsoft.com/office/drawing/2014/main" id="{0342B8EB-3114-4549-B75B-BB93AB3F8121}"/>
              </a:ext>
            </a:extLst>
          </p:cNvPr>
          <p:cNvSpPr/>
          <p:nvPr userDrawn="1"/>
        </p:nvSpPr>
        <p:spPr>
          <a:xfrm>
            <a:off x="900000" y="1614751"/>
            <a:ext cx="361068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0F703964-06E1-8641-8332-DF2337C29D2F}"/>
              </a:ext>
            </a:extLst>
          </p:cNvPr>
          <p:cNvSpPr/>
          <p:nvPr userDrawn="1"/>
        </p:nvSpPr>
        <p:spPr>
          <a:xfrm>
            <a:off x="1597171" y="1614750"/>
            <a:ext cx="1152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sp>
        <p:nvSpPr>
          <p:cNvPr id="17" name="Bildplatzhalter 3">
            <a:extLst>
              <a:ext uri="{FF2B5EF4-FFF2-40B4-BE49-F238E27FC236}">
                <a16:creationId xmlns:a16="http://schemas.microsoft.com/office/drawing/2014/main" id="{71E9667F-4B42-2B43-BA37-05688738A2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08000" y="0"/>
            <a:ext cx="6084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00000" y="1979999"/>
            <a:ext cx="4500000" cy="396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AA3B905-FE20-8276-03AC-43BB0507E024}"/>
              </a:ext>
            </a:extLst>
          </p:cNvPr>
          <p:cNvSpPr txBox="1">
            <a:spLocks/>
          </p:cNvSpPr>
          <p:nvPr userDrawn="1"/>
        </p:nvSpPr>
        <p:spPr>
          <a:xfrm>
            <a:off x="900000" y="1080000"/>
            <a:ext cx="4500000" cy="61555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Roobert BTC" pitchFamily="2" charset="0"/>
                <a:ea typeface="+mj-ea"/>
                <a:cs typeface="Roobert BTC" pitchFamily="2" charset="0"/>
              </a:defRPr>
            </a:lvl1pPr>
          </a:lstStyle>
          <a:p>
            <a:r>
              <a:rPr lang="de-DE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6616400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0" userDrawn="1">
          <p15:clr>
            <a:srgbClr val="547EBF"/>
          </p15:clr>
        </p15:guide>
        <p15:guide id="6" orient="horz" pos="3743" userDrawn="1">
          <p15:clr>
            <a:srgbClr val="F26B43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(freier Tite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/>
          <a:p>
            <a:r>
              <a:rPr lang="de-DE"/>
              <a:t>BTC AG | Master | April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20" name="Gruppieren 19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13" name="Titel 1">
            <a:extLst>
              <a:ext uri="{FF2B5EF4-FFF2-40B4-BE49-F238E27FC236}">
                <a16:creationId xmlns:a16="http://schemas.microsoft.com/office/drawing/2014/main" id="{1098E832-D5B8-C64D-A16E-CF8DDF2A8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1080000"/>
            <a:ext cx="4500000" cy="615553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7" name="Bildplatzhalter 3">
            <a:extLst>
              <a:ext uri="{FF2B5EF4-FFF2-40B4-BE49-F238E27FC236}">
                <a16:creationId xmlns:a16="http://schemas.microsoft.com/office/drawing/2014/main" id="{71E9667F-4B42-2B43-BA37-05688738A27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08000" y="0"/>
            <a:ext cx="6084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900000" y="1979999"/>
            <a:ext cx="4500000" cy="396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403660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80" userDrawn="1">
          <p15:clr>
            <a:srgbClr val="547EBF"/>
          </p15:clr>
        </p15:guide>
        <p15:guide id="6" orient="horz" pos="3743" userDrawn="1">
          <p15:clr>
            <a:srgbClr val="F26B43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nsprechpart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/>
          <a:p>
            <a:r>
              <a:rPr lang="de-DE"/>
              <a:t>BTC AG | Master | April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20" name="Gruppieren 19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900000" y="3960000"/>
            <a:ext cx="3240000" cy="19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6" name="Textplatzhalter 2"/>
          <p:cNvSpPr>
            <a:spLocks noGrp="1"/>
          </p:cNvSpPr>
          <p:nvPr>
            <p:ph type="body" sz="quarter" idx="14"/>
          </p:nvPr>
        </p:nvSpPr>
        <p:spPr>
          <a:xfrm>
            <a:off x="4482000" y="3960000"/>
            <a:ext cx="3240000" cy="19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27" name="Textplatzhalter 2"/>
          <p:cNvSpPr>
            <a:spLocks noGrp="1"/>
          </p:cNvSpPr>
          <p:nvPr>
            <p:ph type="body" sz="quarter" idx="15"/>
          </p:nvPr>
        </p:nvSpPr>
        <p:spPr>
          <a:xfrm>
            <a:off x="8064000" y="3960000"/>
            <a:ext cx="3240000" cy="198000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3" name="Titelplatzhalter 1"/>
          <p:cNvSpPr>
            <a:spLocks noGrp="1"/>
          </p:cNvSpPr>
          <p:nvPr>
            <p:ph type="title"/>
          </p:nvPr>
        </p:nvSpPr>
        <p:spPr>
          <a:xfrm>
            <a:off x="900000" y="792000"/>
            <a:ext cx="10404000" cy="923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019309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743" userDrawn="1">
          <p15:clr>
            <a:srgbClr val="F26B43"/>
          </p15:clr>
        </p15:guide>
        <p15:guide id="9" orient="horz" pos="498" userDrawn="1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/>
          <a:p>
            <a:r>
              <a:rPr lang="de-DE"/>
              <a:t>BTC AG | Master | April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20" name="Gruppieren 19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4" name="Inhaltsplatzhalter 3"/>
          <p:cNvSpPr>
            <a:spLocks noGrp="1"/>
          </p:cNvSpPr>
          <p:nvPr>
            <p:ph sz="quarter" idx="13"/>
          </p:nvPr>
        </p:nvSpPr>
        <p:spPr>
          <a:xfrm>
            <a:off x="900113" y="1871663"/>
            <a:ext cx="7740000" cy="4068337"/>
          </a:xfrm>
        </p:spPr>
        <p:txBody>
          <a:bodyPr/>
          <a:lstStyle>
            <a:lvl5pPr>
              <a:defRPr/>
            </a:lvl5pPr>
            <a:lvl6pPr marL="982663" indent="-171450">
              <a:buClr>
                <a:schemeClr val="accent3"/>
              </a:buClr>
              <a:buSzPct val="90000"/>
              <a:tabLst/>
              <a:defRPr sz="1500" baseline="0"/>
            </a:lvl6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900000" y="792000"/>
            <a:ext cx="7740000" cy="923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0783074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743" userDrawn="1">
          <p15:clr>
            <a:srgbClr val="F26B43"/>
          </p15:clr>
        </p15:guide>
        <p15:guide id="7" orient="horz" pos="1179" userDrawn="1">
          <p15:clr>
            <a:srgbClr val="FBAE40"/>
          </p15:clr>
        </p15:guide>
        <p15:guide id="9" orient="horz" pos="498" userDrawn="1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brei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/>
          <a:p>
            <a:r>
              <a:rPr lang="de-DE"/>
              <a:t>BTC AG | Master | April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20" name="Gruppieren 19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4" name="Inhaltsplatzhalter 3"/>
          <p:cNvSpPr>
            <a:spLocks noGrp="1"/>
          </p:cNvSpPr>
          <p:nvPr>
            <p:ph sz="quarter" idx="13"/>
          </p:nvPr>
        </p:nvSpPr>
        <p:spPr>
          <a:xfrm>
            <a:off x="900113" y="1871663"/>
            <a:ext cx="9720000" cy="4068337"/>
          </a:xfrm>
        </p:spPr>
        <p:txBody>
          <a:bodyPr/>
          <a:lstStyle>
            <a:lvl5pPr>
              <a:defRPr/>
            </a:lvl5pPr>
            <a:lvl6pPr marL="982663" indent="-171450">
              <a:buClr>
                <a:schemeClr val="accent3"/>
              </a:buClr>
              <a:buSzPct val="90000"/>
              <a:tabLst/>
              <a:defRPr sz="1500" baseline="0"/>
            </a:lvl6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Titelplatzhalter 1"/>
          <p:cNvSpPr>
            <a:spLocks noGrp="1"/>
          </p:cNvSpPr>
          <p:nvPr>
            <p:ph type="title"/>
          </p:nvPr>
        </p:nvSpPr>
        <p:spPr>
          <a:xfrm>
            <a:off x="900000" y="792000"/>
            <a:ext cx="9720113" cy="923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164809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3">
          <p15:clr>
            <a:srgbClr val="F26B43"/>
          </p15:clr>
        </p15:guide>
        <p15:guide id="2" orient="horz" pos="1179">
          <p15:clr>
            <a:srgbClr val="FBAE40"/>
          </p15:clr>
        </p15:guide>
        <p15:guide id="3" orient="horz" pos="498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(zweispaltig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/>
          <a:p>
            <a:r>
              <a:rPr lang="de-DE"/>
              <a:t>BTC AG | Master | April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20" name="Gruppieren 19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4" name="Inhaltsplatzhalter 3"/>
          <p:cNvSpPr>
            <a:spLocks noGrp="1"/>
          </p:cNvSpPr>
          <p:nvPr>
            <p:ph sz="quarter" idx="13"/>
          </p:nvPr>
        </p:nvSpPr>
        <p:spPr>
          <a:xfrm>
            <a:off x="900113" y="1871663"/>
            <a:ext cx="4320000" cy="4068337"/>
          </a:xfrm>
        </p:spPr>
        <p:txBody>
          <a:bodyPr/>
          <a:lstStyle>
            <a:lvl1pPr>
              <a:defRPr b="0"/>
            </a:lvl1pPr>
            <a:lvl5pPr>
              <a:defRPr/>
            </a:lvl5pPr>
            <a:lvl6pPr marL="982663" indent="-171450">
              <a:buClr>
                <a:schemeClr val="accent3"/>
              </a:buClr>
              <a:buSzPct val="90000"/>
              <a:tabLst/>
              <a:defRPr sz="1500" baseline="0"/>
            </a:lvl6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11" name="Inhaltsplatzhalter 3"/>
          <p:cNvSpPr>
            <a:spLocks noGrp="1"/>
          </p:cNvSpPr>
          <p:nvPr>
            <p:ph sz="quarter" idx="14"/>
          </p:nvPr>
        </p:nvSpPr>
        <p:spPr>
          <a:xfrm>
            <a:off x="6300000" y="1871663"/>
            <a:ext cx="4320000" cy="4068337"/>
          </a:xfrm>
        </p:spPr>
        <p:txBody>
          <a:bodyPr/>
          <a:lstStyle>
            <a:lvl1pPr>
              <a:defRPr b="0"/>
            </a:lvl1pPr>
            <a:lvl5pPr>
              <a:defRPr/>
            </a:lvl5pPr>
            <a:lvl6pPr marL="982663" indent="-171450">
              <a:buClr>
                <a:schemeClr val="accent3"/>
              </a:buClr>
              <a:buSzPct val="90000"/>
              <a:tabLst/>
              <a:defRPr sz="1500" baseline="0"/>
            </a:lvl6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cxnSp>
        <p:nvCxnSpPr>
          <p:cNvPr id="9" name="Gerader Verbinder 8"/>
          <p:cNvCxnSpPr/>
          <p:nvPr userDrawn="1"/>
        </p:nvCxnSpPr>
        <p:spPr>
          <a:xfrm>
            <a:off x="900113" y="2199496"/>
            <a:ext cx="4320000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Gerader Verbinder 16"/>
          <p:cNvCxnSpPr/>
          <p:nvPr userDrawn="1"/>
        </p:nvCxnSpPr>
        <p:spPr>
          <a:xfrm>
            <a:off x="6300000" y="2199496"/>
            <a:ext cx="4320000" cy="0"/>
          </a:xfrm>
          <a:prstGeom prst="line">
            <a:avLst/>
          </a:prstGeom>
          <a:ln w="22225">
            <a:solidFill>
              <a:schemeClr val="accent3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itelplatzhalter 1"/>
          <p:cNvSpPr>
            <a:spLocks noGrp="1"/>
          </p:cNvSpPr>
          <p:nvPr>
            <p:ph type="title"/>
          </p:nvPr>
        </p:nvSpPr>
        <p:spPr>
          <a:xfrm>
            <a:off x="900000" y="792000"/>
            <a:ext cx="9720000" cy="923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Mastertitelformat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27307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3">
          <p15:clr>
            <a:srgbClr val="F26B43"/>
          </p15:clr>
        </p15:guide>
        <p15:guide id="2" orient="horz" pos="1179">
          <p15:clr>
            <a:srgbClr val="FBAE40"/>
          </p15:clr>
        </p15:guide>
        <p15:guide id="3" orient="horz" pos="498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 (70/3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20" name="Gruppieren 19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2EF67FB2-D16B-B146-BA27-10C77DF361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512000" y="0"/>
            <a:ext cx="4680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00000" y="792000"/>
            <a:ext cx="5580000" cy="92333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5"/>
          </p:nvPr>
        </p:nvSpPr>
        <p:spPr>
          <a:xfrm>
            <a:off x="900113" y="1871664"/>
            <a:ext cx="5580000" cy="406833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/>
          <a:p>
            <a:r>
              <a:rPr lang="de-DE"/>
              <a:t>BTC AG | Master | April 2026</a:t>
            </a:r>
          </a:p>
        </p:txBody>
      </p:sp>
    </p:spTree>
    <p:extLst>
      <p:ext uri="{BB962C8B-B14F-4D97-AF65-F5344CB8AC3E}">
        <p14:creationId xmlns:p14="http://schemas.microsoft.com/office/powerpoint/2010/main" val="11241249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743" userDrawn="1">
          <p15:clr>
            <a:srgbClr val="F26B43"/>
          </p15:clr>
        </p15:guide>
        <p15:guide id="7" orient="horz" pos="117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 (50/5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20" name="Gruppieren 19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4C0A9E1E-51D2-5648-AA35-56503B5EFB5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08000" y="0"/>
            <a:ext cx="6084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00000" y="792000"/>
            <a:ext cx="4500000" cy="92333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quarter" idx="15"/>
          </p:nvPr>
        </p:nvSpPr>
        <p:spPr>
          <a:xfrm>
            <a:off x="900113" y="1871663"/>
            <a:ext cx="4500000" cy="406833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/>
          <a:p>
            <a:r>
              <a:rPr lang="de-DE"/>
              <a:t>BTC AG | Master | April 2026</a:t>
            </a:r>
          </a:p>
        </p:txBody>
      </p:sp>
    </p:spTree>
    <p:extLst>
      <p:ext uri="{BB962C8B-B14F-4D97-AF65-F5344CB8AC3E}">
        <p14:creationId xmlns:p14="http://schemas.microsoft.com/office/powerpoint/2010/main" val="3844228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744" userDrawn="1">
          <p15:clr>
            <a:srgbClr val="F26B43"/>
          </p15:clr>
        </p15:guide>
        <p15:guide id="7" orient="horz" pos="1179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 (30/70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20" name="Gruppieren 19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17" name="Bildplatzhalter 3">
            <a:extLst>
              <a:ext uri="{FF2B5EF4-FFF2-40B4-BE49-F238E27FC236}">
                <a16:creationId xmlns:a16="http://schemas.microsoft.com/office/drawing/2014/main" id="{FADE9451-8911-EE45-A8E3-5D5545C37F0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72000" y="0"/>
            <a:ext cx="7920000" cy="6858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900000" y="792000"/>
            <a:ext cx="2880000" cy="69249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500"/>
            </a:lvl1pPr>
          </a:lstStyle>
          <a:p>
            <a:r>
              <a:rPr lang="de-DE"/>
              <a:t>Titelmasterformat </a:t>
            </a:r>
            <a:br>
              <a:rPr lang="de-DE"/>
            </a:br>
            <a:r>
              <a:rPr lang="de-DE"/>
              <a:t>durch </a:t>
            </a:r>
            <a:br>
              <a:rPr lang="de-DE"/>
            </a:br>
            <a:r>
              <a:rPr lang="de-DE"/>
              <a:t>Klicken bearbeiten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5"/>
          </p:nvPr>
        </p:nvSpPr>
        <p:spPr>
          <a:xfrm>
            <a:off x="900000" y="1871663"/>
            <a:ext cx="2880000" cy="406833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/>
          <a:p>
            <a:r>
              <a:rPr lang="de-DE"/>
              <a:t>BTC AG | Master | April 2026</a:t>
            </a:r>
          </a:p>
        </p:txBody>
      </p:sp>
    </p:spTree>
    <p:extLst>
      <p:ext uri="{BB962C8B-B14F-4D97-AF65-F5344CB8AC3E}">
        <p14:creationId xmlns:p14="http://schemas.microsoft.com/office/powerpoint/2010/main" val="9622072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743" userDrawn="1">
          <p15:clr>
            <a:srgbClr val="F26B43"/>
          </p15:clr>
        </p15:guide>
        <p15:guide id="7" orient="horz" pos="1179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/>
          <a:p>
            <a:r>
              <a:rPr lang="de-DE"/>
              <a:t>BTC AG | Master | April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20" name="Gruppieren 19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13" name="Titel 1">
            <a:extLst>
              <a:ext uri="{FF2B5EF4-FFF2-40B4-BE49-F238E27FC236}">
                <a16:creationId xmlns:a16="http://schemas.microsoft.com/office/drawing/2014/main" id="{752B2DB8-7335-414D-A787-3DBA0FF7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000" y="1872000"/>
            <a:ext cx="10404000" cy="4069925"/>
          </a:xfrm>
        </p:spPr>
        <p:txBody>
          <a:bodyPr/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15" name="Freeform 10">
            <a:extLst>
              <a:ext uri="{FF2B5EF4-FFF2-40B4-BE49-F238E27FC236}">
                <a16:creationId xmlns:a16="http://schemas.microsoft.com/office/drawing/2014/main" id="{6C741E72-3AAF-4E43-B7BD-F73BEA47FBCE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470885" y="2243179"/>
            <a:ext cx="324000" cy="252000"/>
          </a:xfrm>
          <a:custGeom>
            <a:avLst/>
            <a:gdLst>
              <a:gd name="T0" fmla="*/ 3 w 92"/>
              <a:gd name="T1" fmla="*/ 37 h 85"/>
              <a:gd name="T2" fmla="*/ 3 w 92"/>
              <a:gd name="T3" fmla="*/ 0 h 85"/>
              <a:gd name="T4" fmla="*/ 37 w 92"/>
              <a:gd name="T5" fmla="*/ 0 h 85"/>
              <a:gd name="T6" fmla="*/ 37 w 92"/>
              <a:gd name="T7" fmla="*/ 29 h 85"/>
              <a:gd name="T8" fmla="*/ 32 w 92"/>
              <a:gd name="T9" fmla="*/ 63 h 85"/>
              <a:gd name="T10" fmla="*/ 8 w 92"/>
              <a:gd name="T11" fmla="*/ 85 h 85"/>
              <a:gd name="T12" fmla="*/ 0 w 92"/>
              <a:gd name="T13" fmla="*/ 72 h 85"/>
              <a:gd name="T14" fmla="*/ 15 w 92"/>
              <a:gd name="T15" fmla="*/ 60 h 85"/>
              <a:gd name="T16" fmla="*/ 20 w 92"/>
              <a:gd name="T17" fmla="*/ 37 h 85"/>
              <a:gd name="T18" fmla="*/ 3 w 92"/>
              <a:gd name="T19" fmla="*/ 37 h 85"/>
              <a:gd name="T20" fmla="*/ 58 w 92"/>
              <a:gd name="T21" fmla="*/ 37 h 85"/>
              <a:gd name="T22" fmla="*/ 58 w 92"/>
              <a:gd name="T23" fmla="*/ 0 h 85"/>
              <a:gd name="T24" fmla="*/ 92 w 92"/>
              <a:gd name="T25" fmla="*/ 0 h 85"/>
              <a:gd name="T26" fmla="*/ 92 w 92"/>
              <a:gd name="T27" fmla="*/ 29 h 85"/>
              <a:gd name="T28" fmla="*/ 86 w 92"/>
              <a:gd name="T29" fmla="*/ 63 h 85"/>
              <a:gd name="T30" fmla="*/ 63 w 92"/>
              <a:gd name="T31" fmla="*/ 85 h 85"/>
              <a:gd name="T32" fmla="*/ 55 w 92"/>
              <a:gd name="T33" fmla="*/ 72 h 85"/>
              <a:gd name="T34" fmla="*/ 69 w 92"/>
              <a:gd name="T35" fmla="*/ 60 h 85"/>
              <a:gd name="T36" fmla="*/ 74 w 92"/>
              <a:gd name="T37" fmla="*/ 37 h 85"/>
              <a:gd name="T38" fmla="*/ 58 w 92"/>
              <a:gd name="T39" fmla="*/ 37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92" h="85">
                <a:moveTo>
                  <a:pt x="3" y="37"/>
                </a:moveTo>
                <a:cubicBezTo>
                  <a:pt x="3" y="0"/>
                  <a:pt x="3" y="0"/>
                  <a:pt x="3" y="0"/>
                </a:cubicBezTo>
                <a:cubicBezTo>
                  <a:pt x="37" y="0"/>
                  <a:pt x="37" y="0"/>
                  <a:pt x="37" y="0"/>
                </a:cubicBezTo>
                <a:cubicBezTo>
                  <a:pt x="37" y="29"/>
                  <a:pt x="37" y="29"/>
                  <a:pt x="37" y="29"/>
                </a:cubicBezTo>
                <a:cubicBezTo>
                  <a:pt x="37" y="45"/>
                  <a:pt x="35" y="56"/>
                  <a:pt x="32" y="63"/>
                </a:cubicBezTo>
                <a:cubicBezTo>
                  <a:pt x="27" y="73"/>
                  <a:pt x="19" y="80"/>
                  <a:pt x="8" y="85"/>
                </a:cubicBezTo>
                <a:cubicBezTo>
                  <a:pt x="0" y="72"/>
                  <a:pt x="0" y="72"/>
                  <a:pt x="0" y="72"/>
                </a:cubicBezTo>
                <a:cubicBezTo>
                  <a:pt x="7" y="69"/>
                  <a:pt x="11" y="65"/>
                  <a:pt x="15" y="60"/>
                </a:cubicBezTo>
                <a:cubicBezTo>
                  <a:pt x="18" y="54"/>
                  <a:pt x="19" y="47"/>
                  <a:pt x="20" y="37"/>
                </a:cubicBezTo>
                <a:lnTo>
                  <a:pt x="3" y="37"/>
                </a:lnTo>
                <a:close/>
                <a:moveTo>
                  <a:pt x="58" y="37"/>
                </a:moveTo>
                <a:cubicBezTo>
                  <a:pt x="58" y="0"/>
                  <a:pt x="58" y="0"/>
                  <a:pt x="58" y="0"/>
                </a:cubicBezTo>
                <a:cubicBezTo>
                  <a:pt x="92" y="0"/>
                  <a:pt x="92" y="0"/>
                  <a:pt x="92" y="0"/>
                </a:cubicBezTo>
                <a:cubicBezTo>
                  <a:pt x="92" y="29"/>
                  <a:pt x="92" y="29"/>
                  <a:pt x="92" y="29"/>
                </a:cubicBezTo>
                <a:cubicBezTo>
                  <a:pt x="92" y="45"/>
                  <a:pt x="90" y="56"/>
                  <a:pt x="86" y="63"/>
                </a:cubicBezTo>
                <a:cubicBezTo>
                  <a:pt x="81" y="73"/>
                  <a:pt x="73" y="80"/>
                  <a:pt x="63" y="85"/>
                </a:cubicBezTo>
                <a:cubicBezTo>
                  <a:pt x="55" y="72"/>
                  <a:pt x="55" y="72"/>
                  <a:pt x="55" y="72"/>
                </a:cubicBezTo>
                <a:cubicBezTo>
                  <a:pt x="61" y="69"/>
                  <a:pt x="66" y="65"/>
                  <a:pt x="69" y="60"/>
                </a:cubicBezTo>
                <a:cubicBezTo>
                  <a:pt x="72" y="54"/>
                  <a:pt x="74" y="47"/>
                  <a:pt x="74" y="37"/>
                </a:cubicBezTo>
                <a:lnTo>
                  <a:pt x="58" y="37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>
              <a:latin typeface="Roobert BTC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811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3744" userDrawn="1">
          <p15:clr>
            <a:srgbClr val="F26B43"/>
          </p15:clr>
        </p15:guide>
        <p15:guide id="7" orient="horz" pos="1179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00000" y="792000"/>
            <a:ext cx="3060000" cy="92333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00000" y="1871663"/>
            <a:ext cx="3060000" cy="406833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/>
          <a:p>
            <a:r>
              <a:rPr lang="de-DE"/>
              <a:t>BTC AG | Master | April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20" name="Gruppieren 19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7" name="Diagrammplatzhalter 6"/>
          <p:cNvSpPr>
            <a:spLocks noGrp="1"/>
          </p:cNvSpPr>
          <p:nvPr>
            <p:ph type="chart" sz="quarter" idx="15"/>
          </p:nvPr>
        </p:nvSpPr>
        <p:spPr>
          <a:xfrm>
            <a:off x="6108700" y="790575"/>
            <a:ext cx="5580000" cy="5149425"/>
          </a:xfrm>
        </p:spPr>
        <p:txBody>
          <a:bodyPr/>
          <a:lstStyle/>
          <a:p>
            <a:r>
              <a:rPr lang="de-DE"/>
              <a:t>Diagramm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6532819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179" userDrawn="1">
          <p15:clr>
            <a:srgbClr val="FBAE40"/>
          </p15:clr>
        </p15:guide>
        <p15:guide id="7" orient="horz" pos="3743" userDrawn="1">
          <p15:clr>
            <a:srgbClr val="F26B43"/>
          </p15:clr>
        </p15:guide>
        <p15:guide id="8" orient="horz" pos="498" userDrawn="1">
          <p15:clr>
            <a:srgbClr val="5ACBF0"/>
          </p15:clr>
        </p15:guide>
        <p15:guide id="9" pos="7116" userDrawn="1">
          <p15:clr>
            <a:srgbClr val="F26B43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Diagramm und R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rafik 1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239"/>
          <a:stretch/>
        </p:blipFill>
        <p:spPr>
          <a:xfrm>
            <a:off x="6125497" y="-1"/>
            <a:ext cx="6067130" cy="6858352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00000" y="792000"/>
            <a:ext cx="3060000" cy="923330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900000" y="1871663"/>
            <a:ext cx="3060000" cy="4068337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/>
          <a:p>
            <a:r>
              <a:rPr lang="de-DE"/>
              <a:t>BTC AG | Master | April 2026</a:t>
            </a: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‹Nr.›</a:t>
            </a:fld>
            <a:endParaRPr lang="de-DE"/>
          </a:p>
        </p:txBody>
      </p: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20" name="Gruppieren 19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21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3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7" name="Diagrammplatzhalter 6"/>
          <p:cNvSpPr>
            <a:spLocks noGrp="1"/>
          </p:cNvSpPr>
          <p:nvPr>
            <p:ph type="chart" sz="quarter" idx="15"/>
          </p:nvPr>
        </p:nvSpPr>
        <p:spPr>
          <a:xfrm>
            <a:off x="6480886" y="790575"/>
            <a:ext cx="5220000" cy="5149425"/>
          </a:xfrm>
        </p:spPr>
        <p:txBody>
          <a:bodyPr/>
          <a:lstStyle/>
          <a:p>
            <a:r>
              <a:rPr lang="de-DE"/>
              <a:t>Diagramm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2754311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1179">
          <p15:clr>
            <a:srgbClr val="FBAE40"/>
          </p15:clr>
        </p15:guide>
        <p15:guide id="7" orient="horz" pos="3743">
          <p15:clr>
            <a:srgbClr val="F26B43"/>
          </p15:clr>
        </p15:guide>
        <p15:guide id="8" orient="horz" pos="498">
          <p15:clr>
            <a:srgbClr val="5ACBF0"/>
          </p15:clr>
        </p15:guide>
        <p15:guide id="9" pos="7116">
          <p15:clr>
            <a:srgbClr val="F26B43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mit freiem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00000" y="792000"/>
            <a:ext cx="10404000" cy="230832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1500" b="1">
                <a:solidFill>
                  <a:schemeClr val="tx1"/>
                </a:solidFill>
              </a:defRPr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685704">
              <a:buClr>
                <a:schemeClr val="accent2"/>
              </a:buClr>
            </a:pPr>
            <a:r>
              <a:rPr lang="de-DE"/>
              <a:t>BTC AG | Master | April 2026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pPr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8725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98" userDrawn="1">
          <p15:clr>
            <a:srgbClr val="5ACBF0"/>
          </p15:clr>
        </p15:guide>
        <p15:guide id="4" orient="horz" pos="3743" userDrawn="1">
          <p15:clr>
            <a:srgbClr val="F26B43"/>
          </p15:clr>
        </p15:guide>
        <p15:guide id="5" pos="7116" userDrawn="1">
          <p15:clr>
            <a:srgbClr val="F26B43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ll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685704">
              <a:buClr>
                <a:schemeClr val="accent2"/>
              </a:buClr>
            </a:pPr>
            <a:r>
              <a:rPr lang="de-DE"/>
              <a:t>BTC AG | Master | April 2026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Bildplatzhalter 5"/>
          <p:cNvSpPr>
            <a:spLocks noGrp="1"/>
          </p:cNvSpPr>
          <p:nvPr>
            <p:ph type="pic" sz="quarter" idx="12"/>
          </p:nvPr>
        </p:nvSpPr>
        <p:spPr>
          <a:xfrm>
            <a:off x="900000" y="792000"/>
            <a:ext cx="10404000" cy="5760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40944035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98" userDrawn="1">
          <p15:clr>
            <a:srgbClr val="5ACBF0"/>
          </p15:clr>
        </p15:guide>
        <p15:guide id="2" pos="7116" userDrawn="1">
          <p15:clr>
            <a:srgbClr val="F26B43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gradFill flip="none" rotWithShape="1">
            <a:gsLst>
              <a:gs pos="0">
                <a:srgbClr val="0F4B8C"/>
              </a:gs>
              <a:gs pos="40000">
                <a:schemeClr val="tx1"/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" y="36000"/>
            <a:ext cx="6123809" cy="6857143"/>
          </a:xfrm>
          <a:prstGeom prst="rect">
            <a:avLst/>
          </a:prstGeom>
        </p:spPr>
      </p:pic>
      <p:sp>
        <p:nvSpPr>
          <p:cNvPr id="16" name="Rechteck 15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18" name="Gruppieren 17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  <a:solidFill>
            <a:schemeClr val="bg1"/>
          </a:solidFill>
        </p:grpSpPr>
        <p:sp>
          <p:nvSpPr>
            <p:cNvPr id="19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0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1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13" name="Textplatzhalter 5"/>
          <p:cNvSpPr>
            <a:spLocks noGrp="1"/>
          </p:cNvSpPr>
          <p:nvPr>
            <p:ph type="body" sz="quarter" idx="10"/>
          </p:nvPr>
        </p:nvSpPr>
        <p:spPr>
          <a:xfrm>
            <a:off x="900000" y="1800000"/>
            <a:ext cx="10404000" cy="230832"/>
          </a:xfrm>
        </p:spPr>
        <p:txBody>
          <a:bodyPr>
            <a:noAutofit/>
          </a:bodyPr>
          <a:lstStyle>
            <a:lvl1pPr algn="l">
              <a:lnSpc>
                <a:spcPct val="100000"/>
              </a:lnSpc>
              <a:defRPr b="0">
                <a:solidFill>
                  <a:schemeClr val="accent3"/>
                </a:solidFill>
              </a:defRPr>
            </a:lvl1pPr>
            <a:lvl2pPr>
              <a:defRPr b="1">
                <a:solidFill>
                  <a:schemeClr val="accent2"/>
                </a:solidFill>
              </a:defRPr>
            </a:lvl2pPr>
            <a:lvl3pPr>
              <a:defRPr b="1">
                <a:solidFill>
                  <a:schemeClr val="accent2"/>
                </a:solidFill>
              </a:defRPr>
            </a:lvl3pPr>
            <a:lvl4pPr>
              <a:defRPr b="1">
                <a:solidFill>
                  <a:schemeClr val="accent2"/>
                </a:solidFill>
              </a:defRPr>
            </a:lvl4pPr>
            <a:lvl5pPr>
              <a:defRPr b="1">
                <a:solidFill>
                  <a:schemeClr val="accent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7" name="Inhaltsplatzhalter 7"/>
          <p:cNvSpPr>
            <a:spLocks noGrp="1"/>
          </p:cNvSpPr>
          <p:nvPr>
            <p:ph sz="quarter" idx="12"/>
          </p:nvPr>
        </p:nvSpPr>
        <p:spPr>
          <a:xfrm>
            <a:off x="900113" y="2160000"/>
            <a:ext cx="10404000" cy="3780000"/>
          </a:xfrm>
        </p:spPr>
        <p:txBody>
          <a:bodyPr/>
          <a:lstStyle>
            <a:lvl1pPr algn="l">
              <a:lnSpc>
                <a:spcPct val="100000"/>
              </a:lnSpc>
              <a:defRPr sz="4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BTC AG | Master | April 2026</a:t>
            </a:r>
          </a:p>
        </p:txBody>
      </p:sp>
    </p:spTree>
    <p:extLst>
      <p:ext uri="{BB962C8B-B14F-4D97-AF65-F5344CB8AC3E}">
        <p14:creationId xmlns:p14="http://schemas.microsoft.com/office/powerpoint/2010/main" val="41506372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mit An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gradFill flip="none" rotWithShape="1">
            <a:gsLst>
              <a:gs pos="0">
                <a:srgbClr val="0F4B8C"/>
              </a:gs>
              <a:gs pos="40000">
                <a:schemeClr val="tx1"/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pic>
        <p:nvPicPr>
          <p:cNvPr id="15" name="Grafik 14"/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" y="36000"/>
            <a:ext cx="6123809" cy="6857143"/>
          </a:xfrm>
          <a:prstGeom prst="rect">
            <a:avLst/>
          </a:prstGeom>
        </p:spPr>
      </p:pic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BTC AG | Master | April 2026</a:t>
            </a:r>
          </a:p>
        </p:txBody>
      </p:sp>
      <p:sp>
        <p:nvSpPr>
          <p:cNvPr id="14" name="Titel 1"/>
          <p:cNvSpPr>
            <a:spLocks noGrp="1"/>
          </p:cNvSpPr>
          <p:nvPr>
            <p:ph type="ctrTitle" hasCustomPrompt="1"/>
          </p:nvPr>
        </p:nvSpPr>
        <p:spPr>
          <a:xfrm>
            <a:off x="900000" y="1404000"/>
            <a:ext cx="5580000" cy="1231200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</a:t>
            </a:r>
            <a:br>
              <a:rPr lang="de-DE"/>
            </a:br>
            <a:r>
              <a:rPr lang="de-DE"/>
              <a:t>bearbeiten</a:t>
            </a:r>
          </a:p>
        </p:txBody>
      </p:sp>
      <p:sp>
        <p:nvSpPr>
          <p:cNvPr id="16" name="Rechteck 15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18" name="Gruppieren 17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  <a:solidFill>
            <a:schemeClr val="bg1"/>
          </a:solidFill>
        </p:grpSpPr>
        <p:sp>
          <p:nvSpPr>
            <p:cNvPr id="19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0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1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3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900000" y="4259528"/>
            <a:ext cx="5580000" cy="1680472"/>
          </a:xfrm>
        </p:spPr>
        <p:txBody>
          <a:bodyPr vert="horz" lIns="0" tIns="0" rIns="0" bIns="0" rtlCol="0">
            <a:noAutofit/>
          </a:bodyPr>
          <a:lstStyle>
            <a:lvl1pPr>
              <a:defRPr lang="de-DE" smtClean="0">
                <a:solidFill>
                  <a:schemeClr val="bg1"/>
                </a:solidFill>
              </a:defRPr>
            </a:lvl1pPr>
            <a:lvl2pPr>
              <a:defRPr lang="de-DE" smtClean="0">
                <a:solidFill>
                  <a:schemeClr val="bg1"/>
                </a:solidFill>
              </a:defRPr>
            </a:lvl2pPr>
            <a:lvl3pPr>
              <a:defRPr lang="de-DE" smtClean="0">
                <a:solidFill>
                  <a:schemeClr val="bg1"/>
                </a:solidFill>
              </a:defRPr>
            </a:lvl3pPr>
            <a:lvl4pPr>
              <a:defRPr lang="de-DE" smtClean="0">
                <a:solidFill>
                  <a:schemeClr val="bg1"/>
                </a:solidFill>
              </a:defRPr>
            </a:lvl4pPr>
            <a:lvl5pPr>
              <a:defRPr lang="de-DE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24948835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mit Anschrift und Kontak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/>
          <p:cNvSpPr/>
          <p:nvPr userDrawn="1"/>
        </p:nvSpPr>
        <p:spPr>
          <a:xfrm>
            <a:off x="0" y="0"/>
            <a:ext cx="12193200" cy="6858000"/>
          </a:xfrm>
          <a:prstGeom prst="rect">
            <a:avLst/>
          </a:prstGeom>
          <a:gradFill flip="none" rotWithShape="1">
            <a:gsLst>
              <a:gs pos="0">
                <a:srgbClr val="0F4B8C"/>
              </a:gs>
              <a:gs pos="40000">
                <a:schemeClr val="tx1"/>
              </a:gs>
              <a:gs pos="100000">
                <a:schemeClr val="tx1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pic>
        <p:nvPicPr>
          <p:cNvPr id="22" name="Grafik 21"/>
          <p:cNvPicPr>
            <a:picLocks noChangeAspect="1"/>
          </p:cNvPicPr>
          <p:nvPr userDrawn="1"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800" y="36000"/>
            <a:ext cx="6123809" cy="6857143"/>
          </a:xfrm>
          <a:prstGeom prst="rect">
            <a:avLst/>
          </a:prstGeom>
        </p:spPr>
      </p:pic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900000" y="172800"/>
            <a:ext cx="5004000" cy="10772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BTC AG | Master | April 2026</a:t>
            </a:r>
          </a:p>
        </p:txBody>
      </p:sp>
      <p:sp>
        <p:nvSpPr>
          <p:cNvPr id="14" name="Titel 1"/>
          <p:cNvSpPr>
            <a:spLocks noGrp="1"/>
          </p:cNvSpPr>
          <p:nvPr>
            <p:ph type="ctrTitle" hasCustomPrompt="1"/>
          </p:nvPr>
        </p:nvSpPr>
        <p:spPr>
          <a:xfrm>
            <a:off x="900000" y="1404000"/>
            <a:ext cx="5580000" cy="1231200"/>
          </a:xfrm>
        </p:spPr>
        <p:txBody>
          <a:bodyPr anchor="t">
            <a:noAutofit/>
          </a:bodyPr>
          <a:lstStyle>
            <a:lvl1pPr algn="l">
              <a:lnSpc>
                <a:spcPct val="10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</a:t>
            </a:r>
            <a:br>
              <a:rPr lang="de-DE"/>
            </a:br>
            <a:r>
              <a:rPr lang="de-DE"/>
              <a:t>bearbeiten</a:t>
            </a:r>
          </a:p>
        </p:txBody>
      </p:sp>
      <p:sp>
        <p:nvSpPr>
          <p:cNvPr id="16" name="Rechteck 15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18" name="Gruppieren 17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  <a:solidFill>
            <a:schemeClr val="bg1"/>
          </a:solidFill>
        </p:grpSpPr>
        <p:sp>
          <p:nvSpPr>
            <p:cNvPr id="19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0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1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4" name="Textplatzhalter 3"/>
          <p:cNvSpPr>
            <a:spLocks noGrp="1"/>
          </p:cNvSpPr>
          <p:nvPr>
            <p:ph type="body" sz="quarter" idx="14"/>
          </p:nvPr>
        </p:nvSpPr>
        <p:spPr>
          <a:xfrm>
            <a:off x="8064000" y="4259528"/>
            <a:ext cx="3240000" cy="168047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buClr>
                <a:schemeClr val="accent2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accent2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accent2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accent2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Bildplatzhalter 6"/>
          <p:cNvSpPr>
            <a:spLocks noGrp="1"/>
          </p:cNvSpPr>
          <p:nvPr>
            <p:ph type="pic" sz="quarter" idx="15"/>
          </p:nvPr>
        </p:nvSpPr>
        <p:spPr>
          <a:xfrm>
            <a:off x="8059034" y="1404000"/>
            <a:ext cx="1512000" cy="1512000"/>
          </a:xfrm>
        </p:spPr>
        <p:txBody>
          <a:bodyPr/>
          <a:lstStyle/>
          <a:p>
            <a:r>
              <a:rPr lang="de-DE"/>
              <a:t>Bild durch Klicken auf Symbol hinzufügen</a:t>
            </a:r>
          </a:p>
        </p:txBody>
      </p:sp>
      <p:sp>
        <p:nvSpPr>
          <p:cNvPr id="15" name="Textplatzhalter 2"/>
          <p:cNvSpPr>
            <a:spLocks noGrp="1"/>
          </p:cNvSpPr>
          <p:nvPr>
            <p:ph type="body" sz="quarter" idx="13"/>
          </p:nvPr>
        </p:nvSpPr>
        <p:spPr>
          <a:xfrm>
            <a:off x="900000" y="4259528"/>
            <a:ext cx="5580000" cy="1680472"/>
          </a:xfrm>
        </p:spPr>
        <p:txBody>
          <a:bodyPr vert="horz" lIns="0" tIns="0" rIns="0" bIns="0" rtlCol="0">
            <a:noAutofit/>
          </a:bodyPr>
          <a:lstStyle>
            <a:lvl1pPr>
              <a:defRPr lang="de-DE" smtClean="0">
                <a:solidFill>
                  <a:schemeClr val="bg1"/>
                </a:solidFill>
              </a:defRPr>
            </a:lvl1pPr>
            <a:lvl2pPr>
              <a:defRPr lang="de-DE" smtClean="0">
                <a:solidFill>
                  <a:schemeClr val="bg1"/>
                </a:solidFill>
              </a:defRPr>
            </a:lvl2pPr>
            <a:lvl3pPr>
              <a:defRPr lang="de-DE" smtClean="0">
                <a:solidFill>
                  <a:schemeClr val="bg1"/>
                </a:solidFill>
              </a:defRPr>
            </a:lvl3pPr>
            <a:lvl4pPr>
              <a:defRPr lang="de-DE" smtClean="0">
                <a:solidFill>
                  <a:schemeClr val="bg1"/>
                </a:solidFill>
              </a:defRPr>
            </a:lvl4pPr>
            <a:lvl5pPr>
              <a:defRPr lang="de-DE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926909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900000" y="792000"/>
            <a:ext cx="10404000" cy="923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00000" y="1872000"/>
            <a:ext cx="10404000" cy="406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/>
              <a:t>Textmasterformat bearbeiten</a:t>
            </a:r>
          </a:p>
          <a:p>
            <a:pPr marL="268288" marR="0" lvl="1" indent="-268288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5AA6E7"/>
              </a:buClr>
              <a:buSzPct val="90000"/>
              <a:buFont typeface="Wingdings 2" panose="05020102010507070707" pitchFamily="18" charset="2"/>
              <a:buChar char=""/>
              <a:tabLst/>
              <a:defRPr/>
            </a:pPr>
            <a:r>
              <a:rPr kumimoji="0" lang="de-DE" sz="1500" b="0" i="0" u="none" strike="noStrike" kern="1200" cap="none" spc="0" normalizeH="0" baseline="0" noProof="0">
                <a:ln>
                  <a:noFill/>
                </a:ln>
                <a:solidFill>
                  <a:srgbClr val="003869"/>
                </a:solidFill>
                <a:effectLst/>
                <a:uLnTx/>
                <a:uFillTx/>
                <a:latin typeface="Roobert BTC" pitchFamily="2" charset="0"/>
                <a:ea typeface="+mn-ea"/>
                <a:cs typeface="Roobert BTC" pitchFamily="2" charset="0"/>
              </a:rPr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  <a:p>
            <a:pPr lvl="5"/>
            <a:r>
              <a:rPr lang="de-DE"/>
              <a:t>Sechste Ebene</a:t>
            </a:r>
          </a:p>
          <a:p>
            <a:pPr lvl="6"/>
            <a:r>
              <a:rPr lang="de-DE"/>
              <a:t>Siebte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900000" y="172800"/>
            <a:ext cx="5580000" cy="107722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de-DE" sz="750" b="0" smtClean="0">
                <a:solidFill>
                  <a:srgbClr val="BFBFBF"/>
                </a:solidFill>
                <a:latin typeface="Roobert BTC" pitchFamily="2" charset="0"/>
                <a:cs typeface="Roobert BTC" pitchFamily="2" charset="0"/>
              </a:defRPr>
            </a:lvl1pPr>
          </a:lstStyle>
          <a:p>
            <a:pPr defTabSz="685704">
              <a:buClr>
                <a:schemeClr val="accent2"/>
              </a:buClr>
            </a:pPr>
            <a:r>
              <a:rPr lang="de-DE"/>
              <a:t>BTC AG | Master | April 2026</a:t>
            </a:r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1232000" y="6616584"/>
            <a:ext cx="720000" cy="115416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>
            <a:lvl1pPr algn="r">
              <a:defRPr sz="750">
                <a:solidFill>
                  <a:schemeClr val="tx1"/>
                </a:solidFill>
                <a:latin typeface="Roobert BTC" pitchFamily="2" charset="0"/>
                <a:cs typeface="Roobert BTC" pitchFamily="2" charset="0"/>
              </a:defRPr>
            </a:lvl1pPr>
          </a:lstStyle>
          <a:p>
            <a:fld id="{2A6FCB84-2526-4B8F-890E-813B1B6D8809}" type="slidenum">
              <a:rPr lang="de-DE" smtClean="0"/>
              <a:pPr/>
              <a:t>‹Nr.›</a:t>
            </a:fld>
            <a:endParaRPr lang="de-DE"/>
          </a:p>
        </p:txBody>
      </p:sp>
      <p:grpSp>
        <p:nvGrpSpPr>
          <p:cNvPr id="7" name="Gruppieren 6"/>
          <p:cNvGrpSpPr>
            <a:grpSpLocks noChangeAspect="1"/>
          </p:cNvGrpSpPr>
          <p:nvPr userDrawn="1"/>
        </p:nvGrpSpPr>
        <p:grpSpPr>
          <a:xfrm>
            <a:off x="11088000" y="172800"/>
            <a:ext cx="864000" cy="315404"/>
            <a:chOff x="2020888" y="1641475"/>
            <a:chExt cx="5105401" cy="1863725"/>
          </a:xfrm>
        </p:grpSpPr>
        <p:sp>
          <p:nvSpPr>
            <p:cNvPr id="8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9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10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12" name="Rechteck 11"/>
          <p:cNvSpPr/>
          <p:nvPr userDrawn="1"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E33272D8-8748-7DAD-A4EF-AA096EA628BD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9796231" y="6616584"/>
            <a:ext cx="1507769" cy="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8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8" r:id="rId2"/>
    <p:sldLayoutId id="2147483717" r:id="rId3"/>
    <p:sldLayoutId id="2147483788" r:id="rId4"/>
    <p:sldLayoutId id="2147483775" r:id="rId5"/>
    <p:sldLayoutId id="2147483716" r:id="rId6"/>
    <p:sldLayoutId id="2147483786" r:id="rId7"/>
    <p:sldLayoutId id="2147483787" r:id="rId8"/>
    <p:sldLayoutId id="2147483714" r:id="rId9"/>
    <p:sldLayoutId id="2147483713" r:id="rId10"/>
    <p:sldLayoutId id="2147483715" r:id="rId11"/>
    <p:sldLayoutId id="2147483718" r:id="rId12"/>
    <p:sldLayoutId id="2147483673" r:id="rId13"/>
    <p:sldLayoutId id="2147483783" r:id="rId14"/>
    <p:sldLayoutId id="2147483779" r:id="rId15"/>
    <p:sldLayoutId id="2147483781" r:id="rId16"/>
    <p:sldLayoutId id="2147483785" r:id="rId17"/>
    <p:sldLayoutId id="2147483672" r:id="rId18"/>
    <p:sldLayoutId id="2147483780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000" b="1" kern="1200">
          <a:solidFill>
            <a:schemeClr val="tx1"/>
          </a:solidFill>
          <a:latin typeface="Roobert BTC" pitchFamily="2" charset="0"/>
          <a:ea typeface="+mj-ea"/>
          <a:cs typeface="Roobert BTC" pitchFamily="2" charset="0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500" kern="1200">
          <a:solidFill>
            <a:schemeClr val="tx1"/>
          </a:solidFill>
          <a:latin typeface="Roobert BTC" pitchFamily="2" charset="0"/>
          <a:ea typeface="+mn-ea"/>
          <a:cs typeface="Roobert BTC" pitchFamily="2" charset="0"/>
        </a:defRPr>
      </a:lvl1pPr>
      <a:lvl2pPr marL="268288" marR="0" indent="-268288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rgbClr val="5AA6E7"/>
        </a:buClr>
        <a:buSzPct val="90000"/>
        <a:buFont typeface="Wingdings 2" panose="05020102010507070707" pitchFamily="18" charset="2"/>
        <a:buChar char=""/>
        <a:tabLst/>
        <a:defRPr sz="1500" kern="1200">
          <a:solidFill>
            <a:schemeClr val="tx1"/>
          </a:solidFill>
          <a:latin typeface="Roobert BTC" pitchFamily="2" charset="0"/>
          <a:ea typeface="+mn-ea"/>
          <a:cs typeface="Roobert BTC" pitchFamily="2" charset="0"/>
        </a:defRPr>
      </a:lvl2pPr>
      <a:lvl3pPr marL="447675" indent="-176213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3"/>
        </a:buClr>
        <a:buSzPct val="90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Roobert BTC" pitchFamily="2" charset="0"/>
          <a:ea typeface="+mn-ea"/>
          <a:cs typeface="Roobert BTC" pitchFamily="2" charset="0"/>
        </a:defRPr>
      </a:lvl3pPr>
      <a:lvl4pPr marL="627063" indent="-176213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3"/>
        </a:buClr>
        <a:buSzPct val="90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Roobert BTC" pitchFamily="2" charset="0"/>
          <a:ea typeface="+mn-ea"/>
          <a:cs typeface="Roobert BTC" pitchFamily="2" charset="0"/>
        </a:defRPr>
      </a:lvl4pPr>
      <a:lvl5pPr marL="806450" indent="-174625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3"/>
        </a:buClr>
        <a:buSzPct val="90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Roobert BTC" pitchFamily="2" charset="0"/>
          <a:ea typeface="+mn-ea"/>
          <a:cs typeface="Roobert BTC" pitchFamily="2" charset="0"/>
        </a:defRPr>
      </a:lvl5pPr>
      <a:lvl6pPr marL="987425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3"/>
        </a:buClr>
        <a:buSzPct val="90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Roobert BTC" pitchFamily="2" charset="0"/>
          <a:ea typeface="+mn-ea"/>
          <a:cs typeface="+mn-cs"/>
        </a:defRPr>
      </a:lvl6pPr>
      <a:lvl7pPr marL="1166813" indent="-179388" algn="l" defTabSz="914400" rtl="0" eaLnBrk="1" latinLnBrk="0" hangingPunct="1">
        <a:lnSpc>
          <a:spcPct val="120000"/>
        </a:lnSpc>
        <a:spcBef>
          <a:spcPts val="0"/>
        </a:spcBef>
        <a:spcAft>
          <a:spcPts val="1200"/>
        </a:spcAft>
        <a:buClr>
          <a:schemeClr val="accent3"/>
        </a:buClr>
        <a:buSzPct val="90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Roobert BTC" pitchFamily="2" charset="0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64" userDrawn="1">
          <p15:clr>
            <a:srgbClr val="FBAE4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Bildplatzhalter 11"/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err="1"/>
              <a:t>KeyRush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Ben Burhop</a:t>
            </a:r>
          </a:p>
        </p:txBody>
      </p:sp>
      <p:sp>
        <p:nvSpPr>
          <p:cNvPr id="13" name="Rechteck 12"/>
          <p:cNvSpPr/>
          <p:nvPr/>
        </p:nvSpPr>
        <p:spPr>
          <a:xfrm>
            <a:off x="900000" y="3420000"/>
            <a:ext cx="1512000" cy="72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  <p:grpSp>
        <p:nvGrpSpPr>
          <p:cNvPr id="18" name="Gruppieren 17"/>
          <p:cNvGrpSpPr>
            <a:grpSpLocks noChangeAspect="1"/>
          </p:cNvGrpSpPr>
          <p:nvPr/>
        </p:nvGrpSpPr>
        <p:grpSpPr>
          <a:xfrm>
            <a:off x="900000" y="2628000"/>
            <a:ext cx="1512000" cy="551954"/>
            <a:chOff x="2020888" y="1641475"/>
            <a:chExt cx="5105401" cy="1863725"/>
          </a:xfrm>
          <a:solidFill>
            <a:schemeClr val="bg1"/>
          </a:solidFill>
        </p:grpSpPr>
        <p:sp>
          <p:nvSpPr>
            <p:cNvPr id="19" name="Freeform 5"/>
            <p:cNvSpPr>
              <a:spLocks/>
            </p:cNvSpPr>
            <p:nvPr userDrawn="1"/>
          </p:nvSpPr>
          <p:spPr bwMode="auto">
            <a:xfrm>
              <a:off x="3840163" y="1684338"/>
              <a:ext cx="1612900" cy="1776413"/>
            </a:xfrm>
            <a:custGeom>
              <a:avLst/>
              <a:gdLst>
                <a:gd name="T0" fmla="*/ 152 w 1016"/>
                <a:gd name="T1" fmla="*/ 1119 h 1119"/>
                <a:gd name="T2" fmla="*/ 308 w 1016"/>
                <a:gd name="T3" fmla="*/ 287 h 1119"/>
                <a:gd name="T4" fmla="*/ 0 w 1016"/>
                <a:gd name="T5" fmla="*/ 287 h 1119"/>
                <a:gd name="T6" fmla="*/ 52 w 1016"/>
                <a:gd name="T7" fmla="*/ 0 h 1119"/>
                <a:gd name="T8" fmla="*/ 1016 w 1016"/>
                <a:gd name="T9" fmla="*/ 0 h 1119"/>
                <a:gd name="T10" fmla="*/ 962 w 1016"/>
                <a:gd name="T11" fmla="*/ 287 h 1119"/>
                <a:gd name="T12" fmla="*/ 652 w 1016"/>
                <a:gd name="T13" fmla="*/ 287 h 1119"/>
                <a:gd name="T14" fmla="*/ 495 w 1016"/>
                <a:gd name="T15" fmla="*/ 1119 h 1119"/>
                <a:gd name="T16" fmla="*/ 152 w 1016"/>
                <a:gd name="T17" fmla="*/ 1119 h 1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6" h="1119">
                  <a:moveTo>
                    <a:pt x="152" y="1119"/>
                  </a:moveTo>
                  <a:lnTo>
                    <a:pt x="308" y="287"/>
                  </a:lnTo>
                  <a:lnTo>
                    <a:pt x="0" y="287"/>
                  </a:lnTo>
                  <a:lnTo>
                    <a:pt x="52" y="0"/>
                  </a:lnTo>
                  <a:lnTo>
                    <a:pt x="1016" y="0"/>
                  </a:lnTo>
                  <a:lnTo>
                    <a:pt x="962" y="287"/>
                  </a:lnTo>
                  <a:lnTo>
                    <a:pt x="652" y="287"/>
                  </a:lnTo>
                  <a:lnTo>
                    <a:pt x="495" y="1119"/>
                  </a:lnTo>
                  <a:lnTo>
                    <a:pt x="152" y="11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0" name="Freeform 6"/>
            <p:cNvSpPr>
              <a:spLocks/>
            </p:cNvSpPr>
            <p:nvPr userDrawn="1"/>
          </p:nvSpPr>
          <p:spPr bwMode="auto">
            <a:xfrm>
              <a:off x="5397501" y="1641475"/>
              <a:ext cx="1728788" cy="1863725"/>
            </a:xfrm>
            <a:custGeom>
              <a:avLst/>
              <a:gdLst>
                <a:gd name="T0" fmla="*/ 303 w 460"/>
                <a:gd name="T1" fmla="*/ 303 h 494"/>
                <a:gd name="T2" fmla="*/ 221 w 460"/>
                <a:gd name="T3" fmla="*/ 376 h 494"/>
                <a:gd name="T4" fmla="*/ 147 w 460"/>
                <a:gd name="T5" fmla="*/ 276 h 494"/>
                <a:gd name="T6" fmla="*/ 260 w 460"/>
                <a:gd name="T7" fmla="*/ 117 h 494"/>
                <a:gd name="T8" fmla="*/ 323 w 460"/>
                <a:gd name="T9" fmla="*/ 186 h 494"/>
                <a:gd name="T10" fmla="*/ 460 w 460"/>
                <a:gd name="T11" fmla="*/ 186 h 494"/>
                <a:gd name="T12" fmla="*/ 262 w 460"/>
                <a:gd name="T13" fmla="*/ 0 h 494"/>
                <a:gd name="T14" fmla="*/ 2 w 460"/>
                <a:gd name="T15" fmla="*/ 279 h 494"/>
                <a:gd name="T16" fmla="*/ 201 w 460"/>
                <a:gd name="T17" fmla="*/ 494 h 494"/>
                <a:gd name="T18" fmla="*/ 446 w 460"/>
                <a:gd name="T19" fmla="*/ 303 h 494"/>
                <a:gd name="T20" fmla="*/ 303 w 460"/>
                <a:gd name="T21" fmla="*/ 303 h 4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60" h="494">
                  <a:moveTo>
                    <a:pt x="303" y="303"/>
                  </a:moveTo>
                  <a:cubicBezTo>
                    <a:pt x="293" y="345"/>
                    <a:pt x="267" y="376"/>
                    <a:pt x="221" y="376"/>
                  </a:cubicBezTo>
                  <a:cubicBezTo>
                    <a:pt x="155" y="376"/>
                    <a:pt x="146" y="315"/>
                    <a:pt x="147" y="276"/>
                  </a:cubicBezTo>
                  <a:cubicBezTo>
                    <a:pt x="148" y="210"/>
                    <a:pt x="179" y="117"/>
                    <a:pt x="260" y="117"/>
                  </a:cubicBezTo>
                  <a:cubicBezTo>
                    <a:pt x="304" y="117"/>
                    <a:pt x="325" y="142"/>
                    <a:pt x="323" y="186"/>
                  </a:cubicBezTo>
                  <a:cubicBezTo>
                    <a:pt x="460" y="186"/>
                    <a:pt x="460" y="186"/>
                    <a:pt x="460" y="186"/>
                  </a:cubicBezTo>
                  <a:cubicBezTo>
                    <a:pt x="460" y="45"/>
                    <a:pt x="367" y="0"/>
                    <a:pt x="262" y="0"/>
                  </a:cubicBezTo>
                  <a:cubicBezTo>
                    <a:pt x="102" y="0"/>
                    <a:pt x="5" y="126"/>
                    <a:pt x="2" y="279"/>
                  </a:cubicBezTo>
                  <a:cubicBezTo>
                    <a:pt x="0" y="405"/>
                    <a:pt x="64" y="494"/>
                    <a:pt x="201" y="494"/>
                  </a:cubicBezTo>
                  <a:cubicBezTo>
                    <a:pt x="397" y="494"/>
                    <a:pt x="436" y="352"/>
                    <a:pt x="446" y="303"/>
                  </a:cubicBezTo>
                  <a:lnTo>
                    <a:pt x="303" y="30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  <p:sp>
          <p:nvSpPr>
            <p:cNvPr id="21" name="Freeform 7"/>
            <p:cNvSpPr>
              <a:spLocks noEditPoints="1"/>
            </p:cNvSpPr>
            <p:nvPr userDrawn="1"/>
          </p:nvSpPr>
          <p:spPr bwMode="auto">
            <a:xfrm>
              <a:off x="2020888" y="1684338"/>
              <a:ext cx="1624013" cy="1776413"/>
            </a:xfrm>
            <a:custGeom>
              <a:avLst/>
              <a:gdLst>
                <a:gd name="T0" fmla="*/ 302 w 432"/>
                <a:gd name="T1" fmla="*/ 146 h 471"/>
                <a:gd name="T2" fmla="*/ 255 w 432"/>
                <a:gd name="T3" fmla="*/ 183 h 471"/>
                <a:gd name="T4" fmla="*/ 181 w 432"/>
                <a:gd name="T5" fmla="*/ 183 h 471"/>
                <a:gd name="T6" fmla="*/ 194 w 432"/>
                <a:gd name="T7" fmla="*/ 112 h 471"/>
                <a:gd name="T8" fmla="*/ 261 w 432"/>
                <a:gd name="T9" fmla="*/ 112 h 471"/>
                <a:gd name="T10" fmla="*/ 302 w 432"/>
                <a:gd name="T11" fmla="*/ 146 h 471"/>
                <a:gd name="T12" fmla="*/ 165 w 432"/>
                <a:gd name="T13" fmla="*/ 271 h 471"/>
                <a:gd name="T14" fmla="*/ 237 w 432"/>
                <a:gd name="T15" fmla="*/ 271 h 471"/>
                <a:gd name="T16" fmla="*/ 287 w 432"/>
                <a:gd name="T17" fmla="*/ 312 h 471"/>
                <a:gd name="T18" fmla="*/ 232 w 432"/>
                <a:gd name="T19" fmla="*/ 359 h 471"/>
                <a:gd name="T20" fmla="*/ 148 w 432"/>
                <a:gd name="T21" fmla="*/ 359 h 471"/>
                <a:gd name="T22" fmla="*/ 165 w 432"/>
                <a:gd name="T23" fmla="*/ 271 h 471"/>
                <a:gd name="T24" fmla="*/ 432 w 432"/>
                <a:gd name="T25" fmla="*/ 104 h 471"/>
                <a:gd name="T26" fmla="*/ 306 w 432"/>
                <a:gd name="T27" fmla="*/ 0 h 471"/>
                <a:gd name="T28" fmla="*/ 88 w 432"/>
                <a:gd name="T29" fmla="*/ 0 h 471"/>
                <a:gd name="T30" fmla="*/ 0 w 432"/>
                <a:gd name="T31" fmla="*/ 471 h 471"/>
                <a:gd name="T32" fmla="*/ 244 w 432"/>
                <a:gd name="T33" fmla="*/ 471 h 471"/>
                <a:gd name="T34" fmla="*/ 418 w 432"/>
                <a:gd name="T35" fmla="*/ 313 h 471"/>
                <a:gd name="T36" fmla="*/ 354 w 432"/>
                <a:gd name="T37" fmla="*/ 218 h 471"/>
                <a:gd name="T38" fmla="*/ 354 w 432"/>
                <a:gd name="T39" fmla="*/ 217 h 471"/>
                <a:gd name="T40" fmla="*/ 355 w 432"/>
                <a:gd name="T41" fmla="*/ 217 h 471"/>
                <a:gd name="T42" fmla="*/ 432 w 432"/>
                <a:gd name="T43" fmla="*/ 104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32" h="471">
                  <a:moveTo>
                    <a:pt x="302" y="146"/>
                  </a:moveTo>
                  <a:cubicBezTo>
                    <a:pt x="302" y="175"/>
                    <a:pt x="276" y="183"/>
                    <a:pt x="255" y="183"/>
                  </a:cubicBezTo>
                  <a:cubicBezTo>
                    <a:pt x="181" y="183"/>
                    <a:pt x="181" y="183"/>
                    <a:pt x="181" y="183"/>
                  </a:cubicBezTo>
                  <a:cubicBezTo>
                    <a:pt x="194" y="112"/>
                    <a:pt x="194" y="112"/>
                    <a:pt x="194" y="112"/>
                  </a:cubicBezTo>
                  <a:cubicBezTo>
                    <a:pt x="261" y="112"/>
                    <a:pt x="261" y="112"/>
                    <a:pt x="261" y="112"/>
                  </a:cubicBezTo>
                  <a:cubicBezTo>
                    <a:pt x="285" y="112"/>
                    <a:pt x="302" y="117"/>
                    <a:pt x="302" y="146"/>
                  </a:cubicBezTo>
                  <a:close/>
                  <a:moveTo>
                    <a:pt x="165" y="271"/>
                  </a:moveTo>
                  <a:cubicBezTo>
                    <a:pt x="237" y="271"/>
                    <a:pt x="237" y="271"/>
                    <a:pt x="237" y="271"/>
                  </a:cubicBezTo>
                  <a:cubicBezTo>
                    <a:pt x="264" y="271"/>
                    <a:pt x="287" y="277"/>
                    <a:pt x="287" y="312"/>
                  </a:cubicBezTo>
                  <a:cubicBezTo>
                    <a:pt x="287" y="350"/>
                    <a:pt x="255" y="359"/>
                    <a:pt x="232" y="359"/>
                  </a:cubicBezTo>
                  <a:cubicBezTo>
                    <a:pt x="148" y="359"/>
                    <a:pt x="148" y="359"/>
                    <a:pt x="148" y="359"/>
                  </a:cubicBezTo>
                  <a:lnTo>
                    <a:pt x="165" y="271"/>
                  </a:lnTo>
                  <a:close/>
                  <a:moveTo>
                    <a:pt x="432" y="104"/>
                  </a:moveTo>
                  <a:cubicBezTo>
                    <a:pt x="432" y="36"/>
                    <a:pt x="398" y="0"/>
                    <a:pt x="306" y="0"/>
                  </a:cubicBezTo>
                  <a:cubicBezTo>
                    <a:pt x="88" y="0"/>
                    <a:pt x="88" y="0"/>
                    <a:pt x="88" y="0"/>
                  </a:cubicBezTo>
                  <a:cubicBezTo>
                    <a:pt x="0" y="471"/>
                    <a:pt x="0" y="471"/>
                    <a:pt x="0" y="471"/>
                  </a:cubicBezTo>
                  <a:cubicBezTo>
                    <a:pt x="244" y="471"/>
                    <a:pt x="244" y="471"/>
                    <a:pt x="244" y="471"/>
                  </a:cubicBezTo>
                  <a:cubicBezTo>
                    <a:pt x="336" y="471"/>
                    <a:pt x="418" y="426"/>
                    <a:pt x="418" y="313"/>
                  </a:cubicBezTo>
                  <a:cubicBezTo>
                    <a:pt x="418" y="269"/>
                    <a:pt x="393" y="228"/>
                    <a:pt x="354" y="218"/>
                  </a:cubicBezTo>
                  <a:cubicBezTo>
                    <a:pt x="354" y="217"/>
                    <a:pt x="354" y="217"/>
                    <a:pt x="354" y="217"/>
                  </a:cubicBezTo>
                  <a:cubicBezTo>
                    <a:pt x="355" y="217"/>
                    <a:pt x="355" y="217"/>
                    <a:pt x="355" y="217"/>
                  </a:cubicBezTo>
                  <a:cubicBezTo>
                    <a:pt x="406" y="202"/>
                    <a:pt x="432" y="163"/>
                    <a:pt x="432" y="10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obert BTC" pitchFamily="2" charset="0"/>
              </a:endParaRPr>
            </a:p>
          </p:txBody>
        </p:sp>
      </p:grpSp>
      <p:sp>
        <p:nvSpPr>
          <p:cNvPr id="22" name="Rechteck 21"/>
          <p:cNvSpPr/>
          <p:nvPr/>
        </p:nvSpPr>
        <p:spPr>
          <a:xfrm>
            <a:off x="0" y="6732000"/>
            <a:ext cx="8640000" cy="126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obert BTC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1705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980F623-664B-5027-8AB4-37C039AB8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BTC AG | Master | April 2026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216AAB05-C337-E054-420C-81C5BB36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2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3DAF637-C91E-2333-D193-4D903491853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000"/>
              <a:t>Schnelles Tippduell für zwei Spieler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000"/>
              <a:t>Beide Spieler tippen nacheinander vorgegebene Sätze an der Tastatur ab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000"/>
              <a:t>Erst nach fehlerfreier Eingabe des aktuellen Satzes erscheint der nächste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000"/>
              <a:t>Feste Spielzeit von genau 5 Minuten pro Partie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de-DE" sz="2000"/>
              <a:t>Gewinner ist, wer nach Ablauf der Zeit die meisten Sätze geschafft hat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DE" sz="200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FEB9C57-1EFD-EBAB-1DD3-5CE25CF64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Was ist </a:t>
            </a:r>
            <a:r>
              <a:rPr lang="de-DE" err="1"/>
              <a:t>KeyRush</a:t>
            </a:r>
            <a:r>
              <a:rPr lang="de-DE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65496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2ECD97EB-4614-81D5-9C97-BB99FF6677E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defTabSz="685704">
              <a:buClr>
                <a:schemeClr val="accent2"/>
              </a:buClr>
            </a:pPr>
            <a:r>
              <a:rPr lang="de-DE"/>
              <a:t>BTC AG | Master | April 2026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961BC23-3C46-15C3-0D8D-51AE9237B5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pPr/>
              <a:t>3</a:t>
            </a:fld>
            <a:endParaRPr lang="de-DE"/>
          </a:p>
        </p:txBody>
      </p:sp>
      <p:pic>
        <p:nvPicPr>
          <p:cNvPr id="6" name="Bildplatzhalter 5">
            <a:extLst>
              <a:ext uri="{FF2B5EF4-FFF2-40B4-BE49-F238E27FC236}">
                <a16:creationId xmlns:a16="http://schemas.microsoft.com/office/drawing/2014/main" id="{4E64EE89-CB69-5994-662F-2BC0C93C8E65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83" b="8483"/>
          <a:stretch>
            <a:fillRect/>
          </a:stretch>
        </p:blipFill>
        <p:spPr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144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6829659C-FA71-89A5-8689-712FC8044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BTC AG | Master | April 2026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8D74B81-8680-F530-2594-5E5D3B3E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4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3094294-C42F-6B48-2F62-8A2C016B6BD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600"/>
              <a:t>Spieldauer: Feste 5 Minuten Rundenzeit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600"/>
              <a:t>Fairness: Kein Entwicklervorteil durch Vorwissen, da nur die manuelle Tippleistung zählt. Sätze sind zufällig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600"/>
              <a:t>Kein Glücksspiel: Sieg hängt ausschließlich von Präzision und Geschwindigkeit ab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600"/>
              <a:t>Rollenverteilung: Ein Spieler startet als Team Rot, der Gegenspieler als Team Blau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600"/>
              <a:t>Multi-Client: Zwei Spieler treten an separaten Geräten an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600"/>
              <a:t>Transparenz: Ein kompakter Regelbildschirm wird vor jedem Spielstart verbindlich angezeigt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1600"/>
              <a:t>Eindeutiger Gewinner: Bei gleicher Satzanzahl entscheidet als </a:t>
            </a:r>
            <a:r>
              <a:rPr lang="de-DE" sz="1600" err="1"/>
              <a:t>Tie</a:t>
            </a:r>
            <a:r>
              <a:rPr lang="de-DE" sz="1600"/>
              <a:t>-Breaker die höhere Treffergenauigkeit</a:t>
            </a:r>
          </a:p>
          <a:p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FFCAF322-8CC8-AEDE-73A0-E8726BDBD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Kriteriencheck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87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460E5B5-F6B7-B736-37CB-164E28F07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BTC AG | Master | April 2026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0F362AAA-8B00-4590-AC64-934D47CB4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6FCB84-2526-4B8F-890E-813B1B6D8809}" type="slidenum">
              <a:rPr lang="de-DE" smtClean="0"/>
              <a:t>5</a:t>
            </a:fld>
            <a:endParaRPr lang="de-DE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C935ED9-C255-5F49-62BC-593B8414AF8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2000"/>
              <a:t>Kontinuierlicher Spielablauf über volle 5 Minuten ohne künstliche Pausen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2000"/>
              <a:t>Live-Anzeige am unteren Rand zeigt jederzeit den aktuellen Vorsprung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2000"/>
              <a:t>Fehler blockieren das Weiterkommen, bis die richtige Taste gedrückt wird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2000"/>
              <a:t>Hohe Fehleranfälligkeit durch den Zeitdruck und das direkte Duell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de-DE" sz="2000"/>
              <a:t>Die größte Herausforderung ist die Balance aus hohem Tipptempo und fehlerfreiem Schreiben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200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ECE151AA-8E55-A77B-C68D-33E37B482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Spielablauf und Herausforderung</a:t>
            </a:r>
          </a:p>
        </p:txBody>
      </p:sp>
    </p:spTree>
    <p:extLst>
      <p:ext uri="{BB962C8B-B14F-4D97-AF65-F5344CB8AC3E}">
        <p14:creationId xmlns:p14="http://schemas.microsoft.com/office/powerpoint/2010/main" val="109645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7FD0CA2-C092-8DA8-DFA1-7A39765632D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Gibt es Fragen?</a:t>
            </a:r>
          </a:p>
        </p:txBody>
      </p:sp>
    </p:spTree>
    <p:extLst>
      <p:ext uri="{BB962C8B-B14F-4D97-AF65-F5344CB8AC3E}">
        <p14:creationId xmlns:p14="http://schemas.microsoft.com/office/powerpoint/2010/main" val="2411603604"/>
      </p:ext>
    </p:extLst>
  </p:cSld>
  <p:clrMapOvr>
    <a:masterClrMapping/>
  </p:clrMapOvr>
</p:sld>
</file>

<file path=ppt/theme/theme1.xml><?xml version="1.0" encoding="utf-8"?>
<a:theme xmlns:a="http://schemas.openxmlformats.org/drawingml/2006/main" name="BTC 2020">
  <a:themeElements>
    <a:clrScheme name="BTC">
      <a:dk1>
        <a:srgbClr val="003869"/>
      </a:dk1>
      <a:lt1>
        <a:srgbClr val="FFFFFF"/>
      </a:lt1>
      <a:dk2>
        <a:srgbClr val="003869"/>
      </a:dk2>
      <a:lt2>
        <a:srgbClr val="FBD200"/>
      </a:lt2>
      <a:accent1>
        <a:srgbClr val="00508C"/>
      </a:accent1>
      <a:accent2>
        <a:srgbClr val="0078BE"/>
      </a:accent2>
      <a:accent3>
        <a:srgbClr val="5AA6E7"/>
      </a:accent3>
      <a:accent4>
        <a:srgbClr val="9CCAF1"/>
      </a:accent4>
      <a:accent5>
        <a:srgbClr val="CEE3F8"/>
      </a:accent5>
      <a:accent6>
        <a:srgbClr val="FBD200"/>
      </a:accent6>
      <a:hlink>
        <a:srgbClr val="5AA6E7"/>
      </a:hlink>
      <a:folHlink>
        <a:srgbClr val="5AA6E7"/>
      </a:folHlink>
    </a:clrScheme>
    <a:fontScheme name="BT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5F5F5"/>
        </a:solidFill>
        <a:ln>
          <a:noFill/>
        </a:ln>
      </a:spPr>
      <a:bodyPr rtlCol="0" anchor="ctr">
        <a:noAutofit/>
      </a:bodyPr>
      <a:lstStyle>
        <a:defPPr algn="ctr">
          <a:defRPr sz="150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3"/>
          </a:solidFill>
        </a:ln>
      </a:spPr>
      <a:bodyPr/>
      <a:lstStyle/>
      <a:style>
        <a:lnRef idx="1">
          <a:schemeClr val="accent2"/>
        </a:lnRef>
        <a:fillRef idx="0">
          <a:schemeClr val="accent2"/>
        </a:fillRef>
        <a:effectRef idx="0">
          <a:schemeClr val="accent2"/>
        </a:effectRef>
        <a:fontRef idx="minor">
          <a:schemeClr val="tx1"/>
        </a:fontRef>
      </a:style>
    </a:lnDef>
    <a:txDef>
      <a:spPr/>
      <a:bodyPr vert="horz" wrap="square" lIns="0" tIns="0" rIns="0" bIns="0" rtlCol="0">
        <a:noAutofit/>
      </a:bodyPr>
      <a:lstStyle>
        <a:defPPr>
          <a:defRPr sz="1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TC_Master_20260422" id="{D65D8247-98B5-4845-8305-E10381770398}" vid="{94D91AD7-649A-4F4C-B2AD-9C6692002C1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39AAE44BCA40748861E6E87DA97C212" ma:contentTypeVersion="5" ma:contentTypeDescription="Ein neues Dokument erstellen." ma:contentTypeScope="" ma:versionID="a1c633d93aa394e32272f8f8e027c06a">
  <xsd:schema xmlns:xsd="http://www.w3.org/2001/XMLSchema" xmlns:xs="http://www.w3.org/2001/XMLSchema" xmlns:p="http://schemas.microsoft.com/office/2006/metadata/properties" xmlns:ns2="80dc4e60-32f7-489f-9f99-d98f69fea57d" targetNamespace="http://schemas.microsoft.com/office/2006/metadata/properties" ma:root="true" ma:fieldsID="820c2e9e4d775ed22140974ace76734c" ns2:_="">
    <xsd:import namespace="80dc4e60-32f7-489f-9f99-d98f69fea57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2:Klassifizierung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dc4e60-32f7-489f-9f99-d98f69fea57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Klassifizierung" ma:index="12" ma:displayName="Klassifizierung" ma:default="Intern" ma:description="Einstufung und Kennzeichnung von Informationen  gemäß EWE Konzernanweisung &quot;Informationsklassifizierung&quot;" ma:format="Dropdown" ma:internalName="Klassifizierung">
      <xsd:simpleType>
        <xsd:restriction base="dms:Choice">
          <xsd:enumeration value="Öffentlich"/>
          <xsd:enumeration value="Intern"/>
          <xsd:enumeration value="Vertraulich"/>
          <xsd:enumeration value="Geheim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Klassifizierung xmlns="80dc4e60-32f7-489f-9f99-d98f69fea57d">Intern</Klassifizierung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B4F5446-D562-40F2-ADC6-F6AFB51A475A}">
  <ds:schemaRefs>
    <ds:schemaRef ds:uri="80dc4e60-32f7-489f-9f99-d98f69fea57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8BA87BC-B4DF-4301-AEAD-FDB6797A8B10}">
  <ds:schemaRefs>
    <ds:schemaRef ds:uri="80dc4e60-32f7-489f-9f99-d98f69fea57d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14B5172-3B00-48EA-B222-AC752CDA04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BTC_Master_169_Startansicht</Template>
  <TotalTime>0</TotalTime>
  <Words>224</Words>
  <Application>Microsoft Office PowerPoint</Application>
  <PresentationFormat>Breitbild</PresentationFormat>
  <Paragraphs>32</Paragraphs>
  <Slides>6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1" baseType="lpstr">
      <vt:lpstr>Arial</vt:lpstr>
      <vt:lpstr>Calibri</vt:lpstr>
      <vt:lpstr>Roobert BTC</vt:lpstr>
      <vt:lpstr>Wingdings 2</vt:lpstr>
      <vt:lpstr>BTC 2020</vt:lpstr>
      <vt:lpstr>KeyRush</vt:lpstr>
      <vt:lpstr>Was ist KeyRush?</vt:lpstr>
      <vt:lpstr>PowerPoint-Präsentation</vt:lpstr>
      <vt:lpstr>Kriteriencheck</vt:lpstr>
      <vt:lpstr>Spielablauf und Herausforderung</vt:lpstr>
      <vt:lpstr>Gibt es Fragen?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Burhop, Ben</dc:creator>
  <cp:lastModifiedBy>Burhop, Ben</cp:lastModifiedBy>
  <cp:revision>2</cp:revision>
  <dcterms:created xsi:type="dcterms:W3CDTF">2026-09-02T21:06:30Z</dcterms:created>
  <dcterms:modified xsi:type="dcterms:W3CDTF">2026-09-14T08:56:39Z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0x010100F39AAE44BCA40748861E6E87DA97C212</vt:lpwstr>
  </property>
</Properties>
</file>